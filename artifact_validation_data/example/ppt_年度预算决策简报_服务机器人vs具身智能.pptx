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C890"/>
                </a:solidFill>
                <a:latin typeface="Microsoft YaHei"/>
                <a:ea typeface="Microsoft YaHei"/>
              </a:rPr>
              <a:t>年度预算会决策简报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828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服务机器人主业 vs 具身智能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C890"/>
                </a:solidFill>
                <a:latin typeface="Microsoft YaHei"/>
                <a:ea typeface="Microsoft YaHei"/>
              </a:rPr>
              <a:t>2027 是否加码 &amp; 是否单列试点预算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面向董事会：12 页快速决策版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972800" cy="21945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E0E6F2"/>
                </a:solidFill>
                <a:latin typeface="Microsoft YaHei"/>
                <a:ea typeface="Microsoft YaHei"/>
              </a:rPr>
              <a:t>本简报仅基于 4 份内部上传材料：</a:t>
            </a:r>
          </a:p>
          <a:p>
            <a:pPr algn="l"/>
            <a:r>
              <a:rPr sz="1400" b="0">
                <a:solidFill>
                  <a:srgbClr val="E0E6F2"/>
                </a:solidFill>
                <a:latin typeface="Microsoft YaHei"/>
                <a:ea typeface="Microsoft YaHei"/>
              </a:rPr>
              <a:t>  ① 2020 服务机器人行业基线（36氪研究院 2020 报告）</a:t>
            </a:r>
          </a:p>
          <a:p>
            <a:pPr algn="l"/>
            <a:r>
              <a:rPr sz="1400" b="0">
                <a:solidFill>
                  <a:srgbClr val="E0E6F2"/>
                </a:solidFill>
                <a:latin typeface="Microsoft YaHei"/>
                <a:ea typeface="Microsoft YaHei"/>
              </a:rPr>
              <a:t>  ② 2025–2026 服务机器人主业政策与市场信号（中研普华 2026-04）</a:t>
            </a:r>
          </a:p>
          <a:p>
            <a:pPr algn="l"/>
            <a:r>
              <a:rPr sz="1400" b="0">
                <a:solidFill>
                  <a:srgbClr val="E0E6F2"/>
                </a:solidFill>
                <a:latin typeface="Microsoft YaHei"/>
                <a:ea typeface="Microsoft YaHei"/>
              </a:rPr>
              <a:t>  ③ 具身智能政策定位与风险边界（中国信通院 2025 报告）</a:t>
            </a:r>
          </a:p>
          <a:p>
            <a:pPr algn="l"/>
            <a:r>
              <a:rPr sz="1400" b="0">
                <a:solidFill>
                  <a:srgbClr val="E0E6F2"/>
                </a:solidFill>
                <a:latin typeface="Microsoft YaHei"/>
                <a:ea typeface="Microsoft YaHei"/>
              </a:rPr>
              <a:t>  ④ 具身智能增长速度、量产节奏、场景扩张（36氪研究院 2026-01）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C8CFE0"/>
                </a:solidFill>
                <a:latin typeface="Microsoft YaHei"/>
                <a:ea typeface="Microsoft YaHei"/>
              </a:rPr>
              <a:t>现有业务：商场导览 · 楼宇配送 · 清洁机器人  ｜  会期：下周年度预算会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主要依据：综合 4 份附件 (A+B+C+D)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一句话结论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本次决策的核心立场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0881360" cy="21031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服务机器人主业 2027 继续加码（按“升级式扩张”而非单纯扩量），</a:t>
            </a:r>
          </a:p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同时单列具身智能试点预算 —— 不 All-in，先内嵌、再放大。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60520"/>
            <a:ext cx="3520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160520"/>
            <a:ext cx="3520440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35204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✓ 主业：加码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3246120" cy="1463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工信部 2026–2030 行动计划已落地，2030 目标 3000 亿；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用户三类业务（导览/配送/清洁）均处加速渗透段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4160520"/>
            <a:ext cx="3520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4160520"/>
            <a:ext cx="3520440" cy="41148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4160520"/>
            <a:ext cx="35204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△ 具身智能：试点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663440"/>
            <a:ext cx="3246120" cy="1463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政策已写入政府工作报告与“十五五”，但信通院明确仍处早期；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数据-模型-本体-场景四难未闭环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4160520"/>
            <a:ext cx="3520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4160520"/>
            <a:ext cx="352044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4160520"/>
            <a:ext cx="35204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× 警惕：泡沫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663440"/>
            <a:ext cx="3246120" cy="1463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2025 融资 380+ 亿、机构 600+ 家，估值/规模口径分歧大；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标准、安全、伦理仍是规模化落地的硬约束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一句话结论 · 综合判断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2 / 12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主要依据：附件 A（2020 36氪报告） + 附件 B（中研普华 2026-04）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2020 基线 vs 2026 现状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用户主业（导览 / 配送 / 清洁）所在赛道五年发生的关键位移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201168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645920"/>
            <a:ext cx="338328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645920"/>
            <a:ext cx="33832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2020 基线 (附件A)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645920"/>
            <a:ext cx="365760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645920"/>
            <a:ext cx="36576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2026 现状 (附件B)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645920"/>
            <a:ext cx="219456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645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信号判读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4884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148840"/>
            <a:ext cx="182880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>
                <a:solidFill>
                  <a:srgbClr val="0F2D52"/>
                </a:solidFill>
                <a:latin typeface="Microsoft YaHei"/>
                <a:ea typeface="Microsoft YaHei"/>
              </a:rPr>
              <a:t>行业定位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148840"/>
            <a:ext cx="3383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2148840"/>
            <a:ext cx="320040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刚摆脱实验室、由疫情催生“无接触”首波需求；属新兴赛道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214884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2148840"/>
            <a:ext cx="347472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已成战略支柱：占机器人产业 38%，2025 市场 1500 亿元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214884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2148840"/>
            <a:ext cx="201168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>
                <a:solidFill>
                  <a:srgbClr val="E86A1F"/>
                </a:solidFill>
                <a:latin typeface="Microsoft YaHei"/>
                <a:ea typeface="Microsoft YaHei"/>
              </a:rPr>
              <a:t>从“概念”到“支柱”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17520"/>
            <a:ext cx="20116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017520"/>
            <a:ext cx="182880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>
                <a:solidFill>
                  <a:srgbClr val="0F2D52"/>
                </a:solidFill>
                <a:latin typeface="Microsoft YaHei"/>
                <a:ea typeface="Microsoft YaHei"/>
              </a:rPr>
              <a:t>驱动力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3017520"/>
            <a:ext cx="33832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3017520"/>
            <a:ext cx="320040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新基建 + 5G + AI；政策起步、产业普及尚浅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3017520"/>
            <a:ext cx="365760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3017520"/>
            <a:ext cx="347472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“具身智能”首入政府工作报告，纳入“十五五”规划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3017520"/>
            <a:ext cx="219456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3017520"/>
            <a:ext cx="201168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>
                <a:solidFill>
                  <a:srgbClr val="E86A1F"/>
                </a:solidFill>
                <a:latin typeface="Microsoft YaHei"/>
                <a:ea typeface="Microsoft YaHei"/>
              </a:rPr>
              <a:t>政策档位提升一档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88620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886200"/>
            <a:ext cx="182880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>
                <a:solidFill>
                  <a:srgbClr val="0F2D52"/>
                </a:solidFill>
                <a:latin typeface="Microsoft YaHei"/>
                <a:ea typeface="Microsoft YaHei"/>
              </a:rPr>
              <a:t>规模/产量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3886200"/>
            <a:ext cx="3383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06040" y="3886200"/>
            <a:ext cx="320040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全球高速增长起步期，国内尚未进入千亿级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7880" y="388620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3886200"/>
            <a:ext cx="347472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2024 国内产量 1051.9 万套（同比 +34.3%）；2030 目标 3000 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388620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20" y="3886200"/>
            <a:ext cx="201168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>
                <a:solidFill>
                  <a:srgbClr val="E86A1F"/>
                </a:solidFill>
                <a:latin typeface="Microsoft YaHei"/>
                <a:ea typeface="Microsoft YaHei"/>
              </a:rPr>
              <a:t>5 年量价齐升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754880"/>
            <a:ext cx="20116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754880"/>
            <a:ext cx="182880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>
                <a:solidFill>
                  <a:srgbClr val="0F2D52"/>
                </a:solidFill>
                <a:latin typeface="Microsoft YaHei"/>
                <a:ea typeface="Microsoft YaHei"/>
              </a:rPr>
              <a:t>应用结构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4754880"/>
            <a:ext cx="33832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4754880"/>
            <a:ext cx="320040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清洁、陪护、导览、运输、售货、安保等通用类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7880" y="4754880"/>
            <a:ext cx="365760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9320" y="4754880"/>
            <a:ext cx="347472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家庭清洁渗透率 38%、医疗手术机器人三甲普及 65%、教育进 2000+ 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55480" y="4754880"/>
            <a:ext cx="219456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20" y="4754880"/>
            <a:ext cx="201168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>
                <a:solidFill>
                  <a:srgbClr val="E86A1F"/>
                </a:solidFill>
                <a:latin typeface="Microsoft YaHei"/>
                <a:ea typeface="Microsoft YaHei"/>
              </a:rPr>
              <a:t>清洁/配送已进入存量替换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62356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623560"/>
            <a:ext cx="182880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>
                <a:solidFill>
                  <a:srgbClr val="0F2D52"/>
                </a:solidFill>
                <a:latin typeface="Microsoft YaHei"/>
                <a:ea typeface="Microsoft YaHei"/>
              </a:rPr>
              <a:t>竞争结构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14600" y="5623560"/>
            <a:ext cx="3383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40" y="5623560"/>
            <a:ext cx="320040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国内厂商起势，全球份额未占主导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7880" y="562356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89320" y="5623560"/>
            <a:ext cx="347472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中国厂商占全球商用服务机器人出货 84.7%（2025）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562356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5623560"/>
            <a:ext cx="2011680" cy="8686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1">
                <a:solidFill>
                  <a:srgbClr val="E86A1F"/>
                </a:solidFill>
                <a:latin typeface="Microsoft YaHei"/>
                <a:ea typeface="Microsoft YaHei"/>
              </a:rPr>
              <a:t>国内主场已经成型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对照判读 · 主业所在赛道五年位移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3 / 12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主要依据：附件 B（中研普华 2026-04）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现有服务机器人主业健康度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针对“商场导览 / 楼宇配送 / 清洁机器人”三条产品线的健康体检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3703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109728" cy="1417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3337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>
                <a:solidFill>
                  <a:srgbClr val="0F2D52"/>
                </a:solidFill>
                <a:latin typeface="Microsoft YaHei"/>
                <a:ea typeface="Microsoft YaHei"/>
              </a:rPr>
              <a:t>市场需求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37360"/>
            <a:ext cx="1188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50" b="1">
                <a:solidFill>
                  <a:srgbClr val="2E8B57"/>
                </a:solidFill>
                <a:latin typeface="Microsoft YaHei"/>
                <a:ea typeface="Microsoft YaHei"/>
              </a:rPr>
              <a:t>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48840"/>
            <a:ext cx="333756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家庭清洁渗透率 38%，最成熟消费级；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商用配送、迎宾导览全流程化（点餐+配送+清洁+安防）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691640"/>
            <a:ext cx="3703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691640"/>
            <a:ext cx="109728" cy="1417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737360"/>
            <a:ext cx="3337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>
                <a:solidFill>
                  <a:srgbClr val="0F2D52"/>
                </a:solidFill>
                <a:latin typeface="Microsoft YaHei"/>
                <a:ea typeface="Microsoft YaHei"/>
              </a:rPr>
              <a:t>产业政策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737360"/>
            <a:ext cx="1188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50" b="1">
                <a:solidFill>
                  <a:srgbClr val="2E8B57"/>
                </a:solidFill>
                <a:latin typeface="Microsoft YaHei"/>
                <a:ea typeface="Microsoft YaHei"/>
              </a:rPr>
              <a:t>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148840"/>
            <a:ext cx="333756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工信部 2026 04-21《服务机器人行业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高质量发展行动计划(2026-2030)》明确 2030 → 3000 亿、国产化 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691640"/>
            <a:ext cx="3703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91640"/>
            <a:ext cx="109728" cy="141732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37360"/>
            <a:ext cx="3337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>
                <a:solidFill>
                  <a:srgbClr val="0F2D52"/>
                </a:solidFill>
                <a:latin typeface="Microsoft YaHei"/>
                <a:ea typeface="Microsoft YaHei"/>
              </a:rP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1737360"/>
            <a:ext cx="1188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50" b="1">
                <a:solidFill>
                  <a:srgbClr val="E86A1F"/>
                </a:solidFill>
                <a:latin typeface="Microsoft YaHei"/>
                <a:ea typeface="Microsoft YaHei"/>
              </a:rPr>
              <a:t>中等偏强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48840"/>
            <a:ext cx="333756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国内厂商全球份额 84.7%；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第一梯队科沃斯/石头/优必选已成型，腰部仍有差异化空间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46120"/>
            <a:ext cx="3703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246120"/>
            <a:ext cx="109728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291840"/>
            <a:ext cx="3337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>
                <a:solidFill>
                  <a:srgbClr val="0F2D52"/>
                </a:solidFill>
                <a:latin typeface="Microsoft YaHei"/>
                <a:ea typeface="Microsoft YaHei"/>
              </a:rPr>
              <a:t>商业模式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291840"/>
            <a:ext cx="1188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Microsoft YaHei"/>
                <a:ea typeface="Microsoft YaHei"/>
              </a:rPr>
              <a:t>需重做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03320"/>
            <a:ext cx="333756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传统“硬件销售”被“硬件+服务+数据”订阅制替代；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医疗机器人服务收入占比已超 30%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246120"/>
            <a:ext cx="3703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3246120"/>
            <a:ext cx="109728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291840"/>
            <a:ext cx="3337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>
                <a:solidFill>
                  <a:srgbClr val="0F2D52"/>
                </a:solidFill>
                <a:latin typeface="Microsoft YaHei"/>
                <a:ea typeface="Microsoft YaHei"/>
              </a:rPr>
              <a:t>技术升级压力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291840"/>
            <a:ext cx="1188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3703320"/>
            <a:ext cx="333756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从“单点智能”向“具身智能”跃迁；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不切入 AI/大模型赋能将被边缘化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3246120"/>
            <a:ext cx="3703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3246120"/>
            <a:ext cx="109728" cy="1417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291840"/>
            <a:ext cx="3337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>
                <a:solidFill>
                  <a:srgbClr val="0F2D52"/>
                </a:solidFill>
                <a:latin typeface="Microsoft YaHei"/>
                <a:ea typeface="Microsoft YaHei"/>
              </a:rPr>
              <a:t>供应链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3291840"/>
            <a:ext cx="1188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50" b="1">
                <a:solidFill>
                  <a:srgbClr val="2E8B57"/>
                </a:solidFill>
                <a:latin typeface="Microsoft YaHei"/>
                <a:ea typeface="Microsoft YaHei"/>
              </a:rPr>
              <a:t>良好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03320"/>
            <a:ext cx="333756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核心零部件国产化率 2025 已破 70%；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珠三角具备减速器/伺服/控制器集群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937760"/>
            <a:ext cx="1120140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029200"/>
            <a:ext cx="1069848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F2D52"/>
                </a:solidFill>
                <a:latin typeface="Microsoft YaHei"/>
                <a:ea typeface="Microsoft YaHei"/>
              </a:rPr>
              <a:t>诊断结论：主业“底盘 OK，但商业模式与技术栈到了必须升级的节点”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440680"/>
            <a:ext cx="1069848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  →  2027 加码方向应从“多卖一台”切换为“升级一台 + 服务一台”：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       ① 把硬件出货往订阅化、按使用计费靠拢（RaaS）；</a:t>
            </a:r>
          </a:p>
          <a:p>
            <a:pPr algn="l"/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</a:rPr>
              <a:t>       ② 用 AI/大模型把现有三条产品线“具身化”，避免被新一代厂商替代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主业健康度 · 整体偏强但需升级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4 / 12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主要依据：附件 B（中研普华 2026-04）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2025–2026 服务机器人主业政策与市场信号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判断 2027 加码窗口是否仍在打开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548640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54864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政策信号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5029200" cy="3840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2025：“具身智能”首次写入政府工作报告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2025：二十届四中全会“十五五”规划建议明确将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具身智能纳入未来产业重点布局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2026-04-21：工信部《服务机器人行业高质量发展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行动计划 (2026-2030)》正式发布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  – 2030 产业规模 → 3000 亿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  – 核心零部件国产化率 → 85%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  – 建成 3-5 个国际竞争力产业集群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国家人工智能基金 600 亿元，重点支持核心攻关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北上深对关键技术/示范应用最高 50% 财政补贴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广东省人形机器人专项基金，单项目最高 3 亿元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48640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市场信号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86000"/>
            <a:ext cx="5029200" cy="3840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2025 服务机器人市场 1500 亿（占机器人 38%）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2024 产量 1051.9 万套，同比 +34.3%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家庭清洁渗透率 38%（最成熟消费级）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医疗手术机器人三甲医院普及率 65%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教育机器人覆盖 2000+ 学校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中国厂商全球商用服务机器人出货占比 84.7%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核心零部件国产化率已破 70%（2025）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商业模式：硬件销售 → “硬件+服务+数据”订阅制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医疗机器人年服务收入占比已超 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86400"/>
            <a:ext cx="11201400" cy="77724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486400"/>
            <a:ext cx="1120140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判读：政策窗口正在打开 + 市场仍在加速 → 2027 是“顺周期加码”而非“追高”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政策与市场信号 · 主业窗口仍在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5 / 12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主要依据：附件 C（中国信通院《具身智能发展报告 2025》）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具身智能：政策定位与风险边界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权威机构对“能投/不能投/慢慢投”的判断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00" cy="4572000"/>
          </a:xfrm>
          <a:prstGeom prst="rect">
            <a:avLst/>
          </a:prstGeom>
          <a:solidFill>
            <a:srgbClr val="ECF7EF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029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Microsoft YaHei"/>
                <a:ea typeface="Microsoft YaHei"/>
              </a:rPr>
              <a:t>✓ 政策定位（已被国家正式背书）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5029200" cy="3931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2025《政府工作报告》首次将“具身智能”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列入国家未来产业重点培育清单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信通院定调：与物理实体融合的人工智能，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改变生产生活方式、推动智能跃升的重要引擎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政府/产业资本协同：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截至 2025-12，国内具身智能 + 机器人投资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事件 744 起、融资 735.43 亿元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标准体系正在建（信通院主导），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四大板块产业链初步形成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商用从“科研试验”迈向“进厂入户”，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轮式人形（轮臂式）已占世界机器人大会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具身智能产品 50%+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FBEEEC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50292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</a:rPr>
              <a:t>× 风险边界（信通院明确点出）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5029200" cy="3931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整体处于“发展早期”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“数据 – 模型 – 本体 – 场景” 难闭环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商业模式、规模化量产、标准缺失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仍是产业化挑战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三大“非共识”：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  ① 路径选择：数据 vs 模型孰重孰轻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  ② 本体构型：通用终极 vs 场景专用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  ③ 数据方案：真实 vs 仿真/合成混合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安全与伦理 = 规模化落地“限制要素”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商用落地处于初期探索阶段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55080"/>
            <a:ext cx="11201400" cy="3657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55080"/>
            <a:ext cx="112014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判读：方向值得布局；但产业仍处“爬第一坡”，不适合做主业级重投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政策定位 + 风险边界 · 慢投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6 / 12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主要依据：附件 D（36氪研究院 2026-01）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具身智能：增长速度、量产节奏、场景扩张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为什么仍要单列试点预算 —— 三组关键数字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65760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365760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36576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增长速度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3657600" cy="12801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400" b="1">
                <a:solidFill>
                  <a:srgbClr val="E86A1F"/>
                </a:solidFill>
                <a:latin typeface="Microsoft YaHei"/>
                <a:ea typeface="Microsoft YaHei"/>
              </a:rPr>
              <a:t>9,150 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20040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中国具身智能市场规模 2025 年（36氪测算口径）；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较 2018 年 2,133 亿 大幅增长，预计 2026 年破万亿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737360"/>
            <a:ext cx="365760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737360"/>
            <a:ext cx="365760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737360"/>
            <a:ext cx="36576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量产节奏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77440"/>
            <a:ext cx="3657600" cy="12801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400" b="1">
                <a:solidFill>
                  <a:srgbClr val="E86A1F"/>
                </a:solidFill>
                <a:latin typeface="Microsoft YaHei"/>
                <a:ea typeface="Microsoft YaHei"/>
              </a:rPr>
              <a:t>10 万 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703320"/>
            <a:ext cx="320040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人形机器人 2026 进入“十万台级”量产关键阶段；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中国整机成本可控制在海外同类约 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737360"/>
            <a:ext cx="365760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737360"/>
            <a:ext cx="365760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737360"/>
            <a:ext cx="36576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场景扩张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377440"/>
            <a:ext cx="3657600" cy="12801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4400" b="1">
                <a:solidFill>
                  <a:srgbClr val="E86A1F"/>
                </a:solidFill>
                <a:latin typeface="Microsoft YaHei"/>
                <a:ea typeface="Microsoft YaHei"/>
              </a:rPr>
              <a:t>4 大场景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703320"/>
            <a:ext cx="320040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工业（柔性制造、汽车/电子）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服务（商业、家庭、公共、情感陪伴）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特种（救援、能源巡检、高危维护）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交通出行（系统级协同与立体生态）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20640"/>
            <a:ext cx="1120140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10698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F2D52"/>
                </a:solidFill>
                <a:latin typeface="Microsoft YaHei"/>
                <a:ea typeface="Microsoft YaHei"/>
              </a:rPr>
              <a:t>资本与供应链信号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32120"/>
            <a:ext cx="10698480" cy="8686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2025 全年融资事件 305+ 起，总额 380+ 亿元，参投机构 600+ 家（同比 ~4 倍）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关键零部件（手部/腿部执行器）国产供应商数量远多于美国，整机成本约为海外 50%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• 国产大模型自主迭代 + “世界模型”技术，是从“能动”到“能干活”的下一道门槛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增长 · 量产 · 场景 · 三组关键数字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7 / 12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主要依据：附件 D（36氪 2026-01） + 附件 C（信通院 2025）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具身智能：泡沫风险与“别 All-in”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把欢呼信号和警示信号放在同一张表上比较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192024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691640"/>
            <a:ext cx="475488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691640"/>
            <a:ext cx="47548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欢呼信号 (来源 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691640"/>
            <a:ext cx="452628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691640"/>
            <a:ext cx="45262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警示信号 (来源 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14884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148840"/>
            <a:ext cx="17373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50" b="1">
                <a:solidFill>
                  <a:srgbClr val="0F2D52"/>
                </a:solidFill>
                <a:latin typeface="Microsoft YaHei"/>
                <a:ea typeface="Microsoft YaHei"/>
              </a:rPr>
              <a:t>市场规模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214884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2148840"/>
            <a:ext cx="44805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2025 中国具身智能 9150 亿，2026 破万亿（36氪口径）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2148840"/>
            <a:ext cx="54864" cy="777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78040" y="2148840"/>
            <a:ext cx="4526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148840"/>
            <a:ext cx="4251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口径较激进，需注意是否与“服务机器人 1500 亿”重复计入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14884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926080"/>
            <a:ext cx="192024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926080"/>
            <a:ext cx="17373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50" b="1">
                <a:solidFill>
                  <a:srgbClr val="0F2D52"/>
                </a:solidFill>
                <a:latin typeface="Microsoft YaHei"/>
                <a:ea typeface="Microsoft YaHei"/>
              </a:rPr>
              <a:t>融资热度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2926080"/>
            <a:ext cx="475488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2926080"/>
            <a:ext cx="44805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2025 全年 305+ 起、380+ 亿、机构 600+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2926080"/>
            <a:ext cx="54864" cy="777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78040" y="2926080"/>
            <a:ext cx="452628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2926080"/>
            <a:ext cx="4251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744 起累计、735 亿融资 ≈ 全行业 2 年挤进；估值/退出存在分化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292608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7033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703320"/>
            <a:ext cx="17373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50" b="1">
                <a:solidFill>
                  <a:srgbClr val="0F2D52"/>
                </a:solidFill>
                <a:latin typeface="Microsoft YaHei"/>
                <a:ea typeface="Microsoft YaHei"/>
              </a:rPr>
              <a:t>量产节奏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370332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0" y="3703320"/>
            <a:ext cx="44805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2026 进入十万台级别，整机成本约海外 50%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3703320"/>
            <a:ext cx="54864" cy="777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78040" y="3703320"/>
            <a:ext cx="4526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3703320"/>
            <a:ext cx="4251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信通院：商用落地处于“初期探索”，仍未跑通规模化量产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370332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480560"/>
            <a:ext cx="192024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480560"/>
            <a:ext cx="17373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50" b="1">
                <a:solidFill>
                  <a:srgbClr val="0F2D52"/>
                </a:solidFill>
                <a:latin typeface="Microsoft YaHei"/>
                <a:ea typeface="Microsoft YaHei"/>
              </a:rPr>
              <a:t>产品路线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23160" y="4480560"/>
            <a:ext cx="475488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0" y="4480560"/>
            <a:ext cx="44805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轮臂式占具身产品 50%+，运动会/马拉松验证运动稳定性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23160" y="4480560"/>
            <a:ext cx="54864" cy="777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78040" y="4480560"/>
            <a:ext cx="452628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4480560"/>
            <a:ext cx="4251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本体构型仍是“非共识”；通用 vs 专用尚无定论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040" y="448056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525780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257800"/>
            <a:ext cx="17373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50" b="1">
                <a:solidFill>
                  <a:srgbClr val="0F2D52"/>
                </a:solidFill>
                <a:latin typeface="Microsoft YaHei"/>
                <a:ea typeface="Microsoft YaHei"/>
              </a:rPr>
              <a:t>商业模式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525780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0320" y="5257800"/>
            <a:ext cx="44805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应用向工业 / 服务 / 特种 / 交通四大场景渗透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23160" y="5257800"/>
            <a:ext cx="54864" cy="777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78040" y="5257800"/>
            <a:ext cx="4526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5257800"/>
            <a:ext cx="4251960" cy="7772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数据-模型-本体-场景四难尚未闭环；安全/伦理是硬约束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78040" y="525780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6126480"/>
            <a:ext cx="11201400" cy="59436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6126480"/>
            <a:ext cx="1120140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策略：对外讲故事 = 满分；对内做预算 = 单列试点、设里程碑、不挤压主业现金流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泡沫风险 · 不 All-in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8 / 12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主要依据：综合 4 份附件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商业健康综合诊断 — 两个核心问题的回答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基于附件 A/B/C/D 的判断，给到董事会的“是/否/怎么”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11201400" cy="2240280"/>
          </a:xfrm>
          <a:prstGeom prst="rect">
            <a:avLst/>
          </a:prstGeom>
          <a:solidFill>
            <a:srgbClr val="F4F6FA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164592" cy="2240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106984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F2D52"/>
                </a:solidFill>
                <a:latin typeface="Microsoft YaHei"/>
                <a:ea typeface="Microsoft YaHei"/>
              </a:rPr>
              <a:t>问题 1：现有服务机器人主业 2027 是否还值得继续加码？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1069848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Microsoft YaHei"/>
                <a:ea typeface="Microsoft YaHei"/>
              </a:rPr>
              <a:t>结论：值得 —— 但是“升级式加码”，不是“扩量式加码”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9848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✓ 政策窗口期未关：2026-2030 行动计划刚发布，2030 → 3000 亿（B）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✓ 用户主业（清洁/配送/导览）正处“通用类→存量替换 + 服务化”节点（B）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△ 商业模式重做信号已出现：硬件销售向 RaaS、数据增值倾斜（B）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△ 技术升级压力来自具身智能新一代：不升级 = 等被替换（C+D）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11201400" cy="2240280"/>
          </a:xfrm>
          <a:prstGeom prst="rect">
            <a:avLst/>
          </a:prstGeom>
          <a:solidFill>
            <a:srgbClr val="F4F6FA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069080"/>
            <a:ext cx="164592" cy="224028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06984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F2D52"/>
                </a:solidFill>
                <a:latin typeface="Microsoft YaHei"/>
                <a:ea typeface="Microsoft YaHei"/>
              </a:rPr>
              <a:t>问题 2：具身智能现在就单列试点预算，还是先观察？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1069848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E86A1F"/>
                </a:solidFill>
                <a:latin typeface="Microsoft YaHei"/>
                <a:ea typeface="Microsoft YaHei"/>
              </a:rPr>
              <a:t>结论：单列试点（小预算、设里程碑），不“先观察”、也不“主业级重投”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9848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✓ 政策已正式背书；2026 进入十万台级量产，错过 12 个月差距会拉开（C+D）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✓ 用户三类业务（轮式底盘/导览/清洁）天然适合“嵌入式具身智能”切入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× 但产业仍处早期：数据-模型-本体-场景四难未闭环（C）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Microsoft YaHei"/>
                <a:ea typeface="Microsoft YaHei"/>
              </a:rPr>
              <a:t>  × 资本/估值过热（融资 4 倍、机构 600+），不适合做整机重资产投入（D）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综合诊断 · 加码主业 + 单列试点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9 / 12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主要依据：附件 D（场景路径）+ 附件 B（市场需求）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建议优先试的 2–3 个具身智能试点场景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全部基于公司既有底盘 / 客户 / 现金流，不做整机研发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365760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3657600" cy="4572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试点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329184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F2D52"/>
                </a:solidFill>
                <a:latin typeface="Microsoft YaHei"/>
                <a:ea typeface="Microsoft YaHei"/>
              </a:rPr>
              <a:t>轮式具身智能配送 +</a:t>
            </a:r>
          </a:p>
          <a:p>
            <a:pPr algn="l"/>
            <a:r>
              <a:rPr sz="1500" b="1">
                <a:solidFill>
                  <a:srgbClr val="0F2D52"/>
                </a:solidFill>
                <a:latin typeface="Microsoft YaHei"/>
                <a:ea typeface="Microsoft YaHei"/>
              </a:rPr>
              <a:t>楼宇/酒店复合任务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3291840" cy="2926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为何选：轮臂式已占具身产品 50%+，与公司楼宇配送底盘最近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怎么试：在 2-3 个酒店/写字楼，将现有配送加“多模态认知 + 长流程”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里程碑：6 月内完成 1 个长流程任务闭环（送餐+巡检+夜间清洁衔接）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依据来源：附件 D（人形/轮臂量产、工业/服务渗透）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691640"/>
            <a:ext cx="365760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691640"/>
            <a:ext cx="3657600" cy="4572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69164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试点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40280"/>
            <a:ext cx="329184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F2D52"/>
                </a:solidFill>
                <a:latin typeface="Microsoft YaHei"/>
                <a:ea typeface="Microsoft YaHei"/>
              </a:rPr>
              <a:t>商场导览机器人 +</a:t>
            </a:r>
          </a:p>
          <a:p>
            <a:pPr algn="l"/>
            <a:r>
              <a:rPr sz="1500" b="1">
                <a:solidFill>
                  <a:srgbClr val="0F2D52"/>
                </a:solidFill>
                <a:latin typeface="Microsoft YaHei"/>
                <a:ea typeface="Microsoft YaHei"/>
              </a:rPr>
              <a:t>大模型多轮对话/路径推理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46120"/>
            <a:ext cx="3291840" cy="2926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为何选：导览正从“迎宾引导→全流程服务助手”演进，AI 升级红利最大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怎么试：在 1-2 个旗舰店改造现有导览机，接 LLM + RAG（商场数据）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里程碑：6 月内顾客满意度 ≥ 主业基线 + 10 pp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依据来源：附件 B（商业服务全流程演进）+ D（服务领域三大趋势）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691640"/>
            <a:ext cx="365760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91640"/>
            <a:ext cx="3657600" cy="4572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69164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试点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40280"/>
            <a:ext cx="329184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F2D52"/>
                </a:solidFill>
                <a:latin typeface="Microsoft YaHei"/>
                <a:ea typeface="Microsoft YaHei"/>
              </a:rPr>
              <a:t>清洁机器人 RaaS</a:t>
            </a:r>
          </a:p>
          <a:p>
            <a:pPr algn="l"/>
            <a:r>
              <a:rPr sz="1500" b="1">
                <a:solidFill>
                  <a:srgbClr val="0F2D52"/>
                </a:solidFill>
                <a:latin typeface="Microsoft YaHei"/>
                <a:ea typeface="Microsoft YaHei"/>
              </a:rPr>
              <a:t>（订阅 + 数据回流）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246120"/>
            <a:ext cx="3291840" cy="2926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为何选：家庭清洁渗透率 38% 已是存量市场，差异在“服务+数据”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怎么试：选 1 个标杆 B 端客户做按面积/按次计费，回收数据训模型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里程碑：6 月内单客户 ARR 跑出 + 月度数据回流闭环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依据来源：附件 B（医疗机器人服务收入 30%+ 范本）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试点场景 · 嵌入既有业务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10 / 12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主要依据：综合 4 份附件 + 公司主业结构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预算分配建议（年度盘子拆解示意）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口径建议：以年度可投预算总额 = 100% 为基准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1">
                <a:solidFill>
                  <a:srgbClr val="0F2D52"/>
                </a:solidFill>
                <a:latin typeface="Microsoft YaHei"/>
                <a:ea typeface="Microsoft YaHei"/>
              </a:rPr>
              <a:t>① 预算条带（按比例）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057400"/>
            <a:ext cx="630936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63093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60%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057400"/>
            <a:ext cx="1261872" cy="50292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057400"/>
            <a:ext cx="1261872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12%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48472" y="2057400"/>
            <a:ext cx="1892808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2057400"/>
            <a:ext cx="1892808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18%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2057400"/>
            <a:ext cx="420624" cy="502920"/>
          </a:xfrm>
          <a:prstGeom prst="rect">
            <a:avLst/>
          </a:prstGeom>
          <a:solidFill>
            <a:srgbClr val="8C6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057400"/>
            <a:ext cx="420624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61904" y="2057400"/>
            <a:ext cx="630936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2057400"/>
            <a:ext cx="630936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43200"/>
            <a:ext cx="10515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1">
                <a:solidFill>
                  <a:srgbClr val="0F2D52"/>
                </a:solidFill>
                <a:latin typeface="Microsoft YaHei"/>
                <a:ea typeface="Microsoft YaHei"/>
              </a:rPr>
              <a:t>② 拆解与理由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017520"/>
            <a:ext cx="228600" cy="6400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017520"/>
            <a:ext cx="47548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YaHei"/>
                <a:ea typeface="Microsoft YaHei"/>
              </a:rPr>
              <a:t>服务机器人主业（升级式扩张）  —  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017520"/>
            <a:ext cx="54406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继续投入产品、渠道、供应链，但要求每个项目带“服务化/订阅化/AI 化”至少一条 KPI（B）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703320"/>
            <a:ext cx="228600" cy="64008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703320"/>
            <a:ext cx="47548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YaHei"/>
                <a:ea typeface="Microsoft YaHei"/>
              </a:rPr>
              <a:t>具身智能试点（独立预算）  —  12%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3703320"/>
            <a:ext cx="54406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三场景并行，单试点上限 1 项目；不做整机研发，只做嵌入与场景验证（C+D）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389120"/>
            <a:ext cx="22860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389120"/>
            <a:ext cx="47548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YaHei"/>
                <a:ea typeface="Microsoft YaHei"/>
              </a:rPr>
              <a:t>AI / 大模型 / 数据基建（共享）  —  18%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4389120"/>
            <a:ext cx="54406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主业升级与具身智能共用底座；先建数据回流、再谈算法（B+C）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074920"/>
            <a:ext cx="228600" cy="640080"/>
          </a:xfrm>
          <a:prstGeom prst="rect">
            <a:avLst/>
          </a:prstGeom>
          <a:solidFill>
            <a:srgbClr val="8C6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074920"/>
            <a:ext cx="47548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YaHei"/>
                <a:ea typeface="Microsoft YaHei"/>
              </a:rPr>
              <a:t>地方政策申报 / 政府采购  —  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074920"/>
            <a:ext cx="54406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对接最高 50% 财政补贴 + 广东人形机器人专项（最高 3 亿/项目）（B）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760720"/>
            <a:ext cx="22860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760720"/>
            <a:ext cx="47548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YaHei"/>
                <a:ea typeface="Microsoft YaHei"/>
              </a:rPr>
              <a:t>风险预备金  —  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5760720"/>
            <a:ext cx="54406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用于试点止损、模式调整、突发监管/伦理合规事件（C）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预算结构 · 主业 60% / 试点 12% / 共享底座 18%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11 / 12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3657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服务机器人公司 · 年度预算决策简报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9775" y="91440"/>
            <a:ext cx="3749039" cy="329184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950" b="1">
                <a:solidFill>
                  <a:srgbClr val="0F2D52"/>
                </a:solidFill>
                <a:latin typeface="Microsoft YaHei"/>
                <a:ea typeface="Microsoft YaHei"/>
              </a:rPr>
              <a:t>主要依据：综合 4 份附件 + 公司业务现状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F2D52"/>
                </a:solidFill>
                <a:latin typeface="Microsoft YaHei"/>
                <a:ea typeface="Microsoft YaHei"/>
              </a:rPr>
              <a:t>未来 6 个月行动清单（落地版）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61288"/>
            <a:ext cx="640080" cy="38000"/>
          </a:xfrm>
          <a:prstGeom prst="rect">
            <a:avLst/>
          </a:prstGeom>
          <a:solidFill>
            <a:srgbClr val="E8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Microsoft YaHei"/>
                <a:ea typeface="Microsoft YaHei"/>
              </a:rPr>
              <a:t>把上面所有结论拆成可被董事会跟踪的里程碑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9525"/>
          </a:xfrm>
          <a:prstGeom prst="rect">
            <a:avLst/>
          </a:prstGeom>
          <a:solidFill>
            <a:srgbClr val="D7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182880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691640"/>
            <a:ext cx="182880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6916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91640"/>
            <a:ext cx="182880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6916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691640"/>
            <a:ext cx="182880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6916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691640"/>
            <a:ext cx="182880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6916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691640"/>
            <a:ext cx="182880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16916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148840"/>
            <a:ext cx="1828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240280"/>
            <a:ext cx="1645920" cy="228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成立具身智能预研小组（5–8 人）+ 在年度预算单列“试点预算”科目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148840"/>
            <a:ext cx="1828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2240280"/>
            <a:ext cx="1645920" cy="228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三场景 POC 立项；启动数据回流/模型基建；选 RaaS 标杆 B 端客户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2148840"/>
            <a:ext cx="1828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240280"/>
            <a:ext cx="1645920" cy="228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RaaS 标杆客户合同签署 + 试运行；与 1–2 家轮式具身智能本体厂签 SI 合作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148840"/>
            <a:ext cx="1828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240280"/>
            <a:ext cx="1645920" cy="228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向地方申报“机器人示范应用”/“具身智能”专项（争取最高 50% 补贴）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2148840"/>
            <a:ext cx="1828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2240280"/>
            <a:ext cx="1645920" cy="228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试点 1（轮式具身配送）完成长流程任务闭环验证；试点 2 顾客满意度首版结果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2148840"/>
            <a:ext cx="1828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2240280"/>
            <a:ext cx="1645920" cy="228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>完成所有 3 个试点的 POC 数据闭环 + 决策会：是否扩大投入 / 哪个 Kill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54880"/>
            <a:ext cx="11201400" cy="1325880"/>
          </a:xfrm>
          <a:prstGeom prst="rect">
            <a:avLst/>
          </a:prstGeom>
          <a:solidFill>
            <a:srgbClr val="F4F6FA"/>
          </a:solidFill>
          <a:ln w="127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10698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YaHei"/>
                <a:ea typeface="Microsoft YaHei"/>
              </a:rPr>
              <a:t>③ 看板（董事会季度跟踪 4 个 KPI）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166360"/>
            <a:ext cx="26974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12080"/>
            <a:ext cx="2514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YaHei"/>
                <a:ea typeface="Microsoft YaHei"/>
              </a:rPr>
              <a:t>主业升级率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550408"/>
            <a:ext cx="25146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≥ 30% 在售 SKU 接入服务化 / 订阅化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5166360"/>
            <a:ext cx="26974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5212080"/>
            <a:ext cx="2514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YaHei"/>
                <a:ea typeface="Microsoft YaHei"/>
              </a:rPr>
              <a:t>试点闭环数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550408"/>
            <a:ext cx="25146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≥ 2 / 3 试点形成可复制 SOP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5166360"/>
            <a:ext cx="26974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5212080"/>
            <a:ext cx="2514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YaHei"/>
                <a:ea typeface="Microsoft YaHei"/>
              </a:rPr>
              <a:t>数据资产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550408"/>
            <a:ext cx="25146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月活机器人数据回流条数 ≥ 10 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5166360"/>
            <a:ext cx="26974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0" y="5212080"/>
            <a:ext cx="2514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YaHei"/>
                <a:ea typeface="Microsoft YaHei"/>
              </a:rPr>
              <a:t>现金健康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550408"/>
            <a:ext cx="25146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</a:rPr>
              <a:t>试点投入不挤占主业研发现金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6 个月行动清单 · 月度里程碑 + 4 KPI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49224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第 12 / 12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